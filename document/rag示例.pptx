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2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1-06T09:20:2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2399.000-80.000,'2.000'0.000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1-06T09:20:2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2325.000 51.000,'2.000'0.000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1-06T09:20:2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476.000 472.000,'2.000'0.000</inkml:trace>
</inkml:ink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customXml" Target="../ink/ink3.xml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>
              <a:off x="10904220" y="-381000"/>
              <a:ext cx="952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>
                <a:off x="10904220" y="-38100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10551795" y="242570"/>
              <a:ext cx="9525" cy="3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2"/>
            </p:blipFill>
            <p:spPr>
              <a:xfrm>
                <a:off x="10551795" y="24257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1746250" y="2247900"/>
              <a:ext cx="9525" cy="3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"/>
            </p:blipFill>
            <p:spPr>
              <a:xfrm>
                <a:off x="1746250" y="2247900"/>
                <a:ext cx="9525" cy="360"/>
              </a:xfrm>
              <a:prstGeom prst="rect"/>
            </p:spPr>
          </p:pic>
        </mc:Fallback>
      </mc:AlternateContent>
      <p:sp>
        <p:nvSpPr>
          <p:cNvPr id="2" name="矩形 1"/>
          <p:cNvSpPr/>
          <p:nvPr/>
        </p:nvSpPr>
        <p:spPr>
          <a:xfrm>
            <a:off x="504190" y="1104900"/>
            <a:ext cx="1056005" cy="7588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</a:t>
            </a:r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1617345" y="1363345"/>
            <a:ext cx="3088640" cy="109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560195" y="-20320"/>
            <a:ext cx="365823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提问</a:t>
            </a:r>
            <a:r>
              <a:rPr lang="en-US" altLang="zh-CN" sz="1200" b="1"/>
              <a:t>1</a:t>
            </a:r>
            <a:r>
              <a:rPr lang="zh-CN" altLang="en-US" sz="1200" b="1"/>
              <a:t>：推荐性价比高的商品</a:t>
            </a:r>
            <a:r>
              <a:rPr lang="en-US" altLang="zh-CN" sz="1200" b="1"/>
              <a:t>   -</a:t>
            </a:r>
            <a:r>
              <a:rPr lang="zh-CN" altLang="en-US" sz="1200" b="1"/>
              <a:t>》记忆</a:t>
            </a:r>
            <a:r>
              <a:rPr lang="en-US" altLang="zh-CN" sz="1200" b="1"/>
              <a:t>memory chain -&gt;prompt | chat(llm) </a:t>
            </a:r>
            <a:endParaRPr lang="zh-CN" altLang="en-US" sz="1200" b="1"/>
          </a:p>
          <a:p>
            <a:r>
              <a:rPr lang="zh-CN" altLang="en-US" sz="1200" b="1"/>
              <a:t>提问</a:t>
            </a:r>
            <a:r>
              <a:rPr lang="en-US" altLang="zh-CN" sz="1200" b="1"/>
              <a:t>2</a:t>
            </a:r>
            <a:r>
              <a:rPr lang="zh-CN" altLang="en-US" sz="1200" b="1"/>
              <a:t>：适合</a:t>
            </a:r>
            <a:r>
              <a:rPr lang="en-US" altLang="zh-CN" sz="1200" b="1"/>
              <a:t>1000</a:t>
            </a:r>
            <a:r>
              <a:rPr lang="zh-CN" altLang="en-US" sz="1200" b="1"/>
              <a:t>元手机</a:t>
            </a:r>
            <a:endParaRPr lang="zh-CN" altLang="en-US" sz="1200" b="1"/>
          </a:p>
          <a:p>
            <a:r>
              <a:rPr lang="zh-CN" altLang="en-US" sz="1200" b="1"/>
              <a:t>提问</a:t>
            </a:r>
            <a:r>
              <a:rPr lang="en-US" altLang="zh-CN" sz="1200" b="1"/>
              <a:t>3</a:t>
            </a:r>
            <a:r>
              <a:rPr lang="zh-CN" altLang="en-US" sz="1200" b="1"/>
              <a:t>：女生适合手机</a:t>
            </a:r>
            <a:endParaRPr lang="zh-CN" altLang="en-US" sz="1200" b="1"/>
          </a:p>
          <a:p>
            <a:r>
              <a:rPr lang="zh-CN" altLang="en-US" sz="1200" b="1"/>
              <a:t>提问</a:t>
            </a:r>
            <a:r>
              <a:rPr lang="en-US" altLang="zh-CN" sz="1200" b="1"/>
              <a:t>4</a:t>
            </a:r>
            <a:r>
              <a:rPr lang="zh-CN" altLang="en-US" sz="1200" b="1"/>
              <a:t>：身高、体重</a:t>
            </a:r>
            <a:r>
              <a:rPr lang="en-US" altLang="zh-CN" sz="1200" b="1"/>
              <a:t> </a:t>
            </a:r>
            <a:r>
              <a:rPr lang="zh-CN" altLang="en-US" sz="1200" b="1"/>
              <a:t>计算</a:t>
            </a:r>
            <a:r>
              <a:rPr lang="en-US" altLang="zh-CN" sz="1200" b="1"/>
              <a:t> bmi </a:t>
            </a:r>
            <a:r>
              <a:rPr lang="zh-CN" altLang="en-US" sz="1200" b="1"/>
              <a:t>（</a:t>
            </a:r>
            <a:r>
              <a:rPr lang="en-US" altLang="zh-CN" sz="1200" b="1"/>
              <a:t>agents,tools,function calling/react)</a:t>
            </a:r>
            <a:endParaRPr lang="en-US" altLang="zh-CN" sz="1200" b="1"/>
          </a:p>
          <a:p>
            <a:r>
              <a:rPr lang="zh-CN" altLang="en-US" sz="1200" b="1"/>
              <a:t>提问</a:t>
            </a:r>
            <a:r>
              <a:rPr lang="en-US" altLang="zh-CN" sz="1200" b="1"/>
              <a:t>5</a:t>
            </a:r>
            <a:r>
              <a:rPr lang="zh-CN" altLang="en-US" sz="1200" b="1"/>
              <a:t>：</a:t>
            </a:r>
            <a:r>
              <a:rPr lang="zh-CN" altLang="en-US" sz="1200" b="1">
                <a:sym typeface="+mn-ea"/>
              </a:rPr>
              <a:t>身高、体重</a:t>
            </a:r>
            <a:r>
              <a:rPr lang="en-US" altLang="zh-CN" sz="1200" b="1">
                <a:sym typeface="+mn-ea"/>
              </a:rPr>
              <a:t> </a:t>
            </a:r>
            <a:r>
              <a:rPr lang="zh-CN" altLang="en-US" sz="1200" b="1">
                <a:sym typeface="+mn-ea"/>
              </a:rPr>
              <a:t>计算</a:t>
            </a:r>
            <a:r>
              <a:rPr lang="en-US" altLang="zh-CN" sz="1200" b="1">
                <a:sym typeface="+mn-ea"/>
              </a:rPr>
              <a:t> bmi </a:t>
            </a:r>
            <a:r>
              <a:rPr lang="zh-CN" altLang="en-US" sz="1200" b="1">
                <a:sym typeface="+mn-ea"/>
              </a:rPr>
              <a:t>（</a:t>
            </a:r>
            <a:r>
              <a:rPr lang="en-US" altLang="zh-CN" sz="1200" b="1">
                <a:solidFill>
                  <a:srgbClr val="FF0000"/>
                </a:solidFill>
                <a:sym typeface="+mn-ea"/>
              </a:rPr>
              <a:t>redis</a:t>
            </a:r>
            <a:r>
              <a:rPr lang="en-US" altLang="zh-CN" sz="1200" b="1">
                <a:sym typeface="+mn-ea"/>
              </a:rPr>
              <a:t>)</a:t>
            </a:r>
            <a:endParaRPr lang="en-US" altLang="zh-CN" sz="1200" b="1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99965" y="854710"/>
            <a:ext cx="7052945" cy="51720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15025" y="394970"/>
            <a:ext cx="3506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大模型</a:t>
            </a:r>
            <a:r>
              <a:rPr lang="en-US" altLang="zh-CN"/>
              <a:t>:llm,embedding</a:t>
            </a:r>
            <a:r>
              <a:rPr lang="zh-CN" altLang="en-US"/>
              <a:t>、</a:t>
            </a:r>
            <a:r>
              <a:rPr lang="en-US" altLang="zh-CN">
                <a:solidFill>
                  <a:srgbClr val="FF0000"/>
                </a:solidFill>
              </a:rPr>
              <a:t>rerank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995545" y="3429000"/>
            <a:ext cx="2548255" cy="219900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123815" y="2908935"/>
            <a:ext cx="3506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数据区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123815" y="3597910"/>
            <a:ext cx="23558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鞋子：</a:t>
            </a:r>
            <a:endParaRPr lang="zh-CN" altLang="en-US" sz="1200"/>
          </a:p>
          <a:p>
            <a:r>
              <a:rPr lang="zh-CN" altLang="en-US" sz="1200"/>
              <a:t> </a:t>
            </a:r>
            <a:r>
              <a:rPr lang="en-US" altLang="zh-CN" sz="1200"/>
              <a:t>a.</a:t>
            </a:r>
            <a:r>
              <a:rPr lang="zh-CN" altLang="en-US" sz="1200"/>
              <a:t>奥坎</a:t>
            </a:r>
            <a:endParaRPr lang="en-US" altLang="zh-CN" sz="1200"/>
          </a:p>
          <a:p>
            <a:r>
              <a:rPr lang="en-US" altLang="zh-CN" sz="1200"/>
              <a:t>2.</a:t>
            </a:r>
            <a:r>
              <a:rPr lang="zh-CN" altLang="en-US" sz="1200"/>
              <a:t>低价商品，有一点性价优势：</a:t>
            </a:r>
            <a:endParaRPr lang="zh-CN" altLang="en-US" sz="1200"/>
          </a:p>
          <a:p>
            <a:r>
              <a:rPr lang="en-US" altLang="zh-CN" sz="1200"/>
              <a:t> a.vivo</a:t>
            </a:r>
            <a:r>
              <a:rPr lang="zh-CN" altLang="en-US" sz="1200"/>
              <a:t>手机</a:t>
            </a:r>
            <a:endParaRPr lang="zh-CN" altLang="en-US" sz="1200"/>
          </a:p>
          <a:p>
            <a:r>
              <a:rPr lang="en-US" altLang="zh-CN" sz="1200"/>
              <a:t>3. </a:t>
            </a:r>
            <a:r>
              <a:rPr lang="zh-CN" altLang="en-US" sz="1200"/>
              <a:t>国产手机，适合低价购买者</a:t>
            </a:r>
            <a:endParaRPr lang="zh-CN" altLang="en-US" sz="1200"/>
          </a:p>
          <a:p>
            <a:r>
              <a:rPr lang="en-US" altLang="zh-CN" sz="1200"/>
              <a:t>a.</a:t>
            </a:r>
            <a:r>
              <a:rPr lang="zh-CN" altLang="en-US" sz="1200"/>
              <a:t>阿朵手机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4.</a:t>
            </a:r>
            <a:r>
              <a:rPr lang="zh-CN" altLang="en-US" sz="1200">
                <a:sym typeface="+mn-ea"/>
              </a:rPr>
              <a:t>性价比商的商品：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a.honor</a:t>
            </a:r>
            <a:r>
              <a:rPr lang="zh-CN" altLang="en-US" sz="1200">
                <a:sym typeface="+mn-ea"/>
              </a:rPr>
              <a:t>手机</a:t>
            </a:r>
            <a:endParaRPr lang="zh-CN" altLang="en-US" sz="1200"/>
          </a:p>
          <a:p>
            <a:r>
              <a:rPr lang="en-US" altLang="zh-CN" sz="1200"/>
              <a:t>5. others </a:t>
            </a:r>
            <a:endParaRPr lang="zh-CN" altLang="en-US" sz="1200"/>
          </a:p>
          <a:p>
            <a:endParaRPr lang="zh-CN" altLang="en-US" sz="1200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1975485" y="1988820"/>
            <a:ext cx="2465070" cy="70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41325" y="2451100"/>
            <a:ext cx="3873500" cy="263715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64540" y="2503805"/>
            <a:ext cx="359283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rgbClr val="FF0000"/>
                </a:solidFill>
                <a:sym typeface="+mn-ea"/>
              </a:rPr>
              <a:t>1.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性价比商的商品：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  <a:sym typeface="+mn-ea"/>
              </a:rPr>
              <a:t>  a.honor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手机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图片展示（</a:t>
            </a:r>
            <a:r>
              <a:rPr lang="en-US" altLang="zh-CN" sz="1200" b="1">
                <a:solidFill>
                  <a:srgbClr val="FF0000"/>
                </a:solidFill>
                <a:sym typeface="+mn-ea"/>
              </a:rPr>
              <a:t>http://xxftp.com/honorphone.jpg)</a:t>
            </a:r>
            <a:endParaRPr lang="en-US" altLang="zh-CN" sz="1200" b="1">
              <a:solidFill>
                <a:srgbClr val="FF0000"/>
              </a:solidFill>
            </a:endParaRPr>
          </a:p>
          <a:p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  <a:sym typeface="+mn-ea"/>
              </a:rPr>
              <a:t>2.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低价商品，有一点性价优势：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  <a:sym typeface="+mn-ea"/>
              </a:rPr>
              <a:t> a.vivo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手机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  <a:sym typeface="+mn-ea"/>
              </a:rPr>
              <a:t>3.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国产手机，适合低价购买者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  <a:sym typeface="+mn-ea"/>
              </a:rPr>
              <a:t>a.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阿朵手机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41140" y="2098675"/>
            <a:ext cx="1126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719830" y="5480050"/>
            <a:ext cx="1932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第三方接口</a:t>
            </a:r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7759065" y="3429000"/>
            <a:ext cx="4093845" cy="219900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082280" y="3719195"/>
            <a:ext cx="376999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ym typeface="+mn-ea"/>
              </a:rPr>
              <a:t>商品信息</a:t>
            </a:r>
            <a:r>
              <a:rPr lang="en-US" altLang="zh-CN" sz="1200">
                <a:sym typeface="+mn-ea"/>
              </a:rPr>
              <a:t>                                         </a:t>
            </a:r>
            <a:r>
              <a:rPr lang="zh-CN" altLang="en-US" sz="1200">
                <a:sym typeface="+mn-ea"/>
              </a:rPr>
              <a:t>向量值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5.</a:t>
            </a:r>
            <a:r>
              <a:rPr lang="zh-CN" altLang="en-US" sz="1200">
                <a:sym typeface="+mn-ea"/>
              </a:rPr>
              <a:t>性价比商的商品：</a:t>
            </a:r>
            <a:r>
              <a:rPr lang="en-US" altLang="zh-CN" sz="1200">
                <a:sym typeface="+mn-ea"/>
              </a:rPr>
              <a:t>                        [0.2222,0.111....]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a.honor</a:t>
            </a:r>
            <a:r>
              <a:rPr lang="zh-CN" altLang="en-US" sz="1200">
                <a:sym typeface="+mn-ea"/>
              </a:rPr>
              <a:t>手机</a:t>
            </a:r>
            <a:r>
              <a:rPr lang="en-US" altLang="zh-CN" sz="1200">
                <a:sym typeface="+mn-ea"/>
              </a:rPr>
              <a:t>honorimage</a:t>
            </a:r>
            <a:r>
              <a:rPr lang="en-US" altLang="zh-CN" sz="1200"/>
              <a:t>1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2.</a:t>
            </a:r>
            <a:r>
              <a:rPr lang="zh-CN" altLang="en-US" sz="1200">
                <a:sym typeface="+mn-ea"/>
              </a:rPr>
              <a:t>低价商品，有一点性价优势：</a:t>
            </a:r>
            <a:r>
              <a:rPr lang="en-US" altLang="zh-CN" sz="1200">
                <a:sym typeface="+mn-ea"/>
              </a:rPr>
              <a:t>      </a:t>
            </a:r>
            <a:r>
              <a:rPr lang="en-US" altLang="zh-CN" sz="1200">
                <a:sym typeface="+mn-ea"/>
              </a:rPr>
              <a:t>[0.2322,0.411....]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a.vivo</a:t>
            </a:r>
            <a:r>
              <a:rPr lang="zh-CN" altLang="en-US" sz="1200">
                <a:sym typeface="+mn-ea"/>
              </a:rPr>
              <a:t>手机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3. </a:t>
            </a:r>
            <a:r>
              <a:rPr lang="zh-CN" altLang="en-US" sz="1200">
                <a:sym typeface="+mn-ea"/>
              </a:rPr>
              <a:t>国产手机，适合低价购买者</a:t>
            </a:r>
            <a:r>
              <a:rPr lang="en-US" altLang="zh-CN" sz="1200">
                <a:sym typeface="+mn-ea"/>
              </a:rPr>
              <a:t>       </a:t>
            </a:r>
            <a:r>
              <a:rPr lang="en-US" altLang="zh-CN" sz="1200">
                <a:sym typeface="+mn-ea"/>
              </a:rPr>
              <a:t> [0.3522,0.611....]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a.</a:t>
            </a:r>
            <a:r>
              <a:rPr lang="zh-CN" altLang="en-US" sz="1200">
                <a:sym typeface="+mn-ea"/>
              </a:rPr>
              <a:t>阿朵手机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4. others </a:t>
            </a:r>
            <a:r>
              <a:rPr lang="en-US" altLang="zh-CN" sz="1200">
                <a:sym typeface="+mn-ea"/>
              </a:rPr>
              <a:t>                                        [0.98222,0.911....]</a:t>
            </a:r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5167630" y="1233805"/>
            <a:ext cx="1794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推荐性价比高的商品</a:t>
            </a:r>
            <a:endParaRPr lang="zh-CN" altLang="en-US" sz="120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962140" y="1417955"/>
            <a:ext cx="3613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475855" y="1233805"/>
            <a:ext cx="16732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 [0.2232,0.112....]</a:t>
            </a:r>
            <a:endParaRPr lang="en-US" altLang="zh-CN" sz="1200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870065" y="958215"/>
            <a:ext cx="1126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计算向量值</a:t>
            </a:r>
            <a:endParaRPr lang="zh-CN" altLang="en-US" sz="1200"/>
          </a:p>
        </p:txBody>
      </p:sp>
      <p:cxnSp>
        <p:nvCxnSpPr>
          <p:cNvPr id="25" name="直接箭头连接符 24"/>
          <p:cNvCxnSpPr>
            <a:stCxn id="23" idx="2"/>
          </p:cNvCxnSpPr>
          <p:nvPr/>
        </p:nvCxnSpPr>
        <p:spPr>
          <a:xfrm>
            <a:off x="8312785" y="1509395"/>
            <a:ext cx="2618105" cy="1721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0102215" y="1961515"/>
            <a:ext cx="10325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相似度评分（</a:t>
            </a:r>
            <a:r>
              <a:rPr lang="en-US" altLang="zh-CN"/>
              <a:t>1-100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1787505" y="3597910"/>
            <a:ext cx="57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99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11787505" y="4297045"/>
            <a:ext cx="57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85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1787505" y="4665345"/>
            <a:ext cx="57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65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11787505" y="5111750"/>
            <a:ext cx="57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11394440" y="2713355"/>
            <a:ext cx="2317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max_distance&gt;5</a:t>
            </a:r>
            <a:endParaRPr lang="en-US" altLang="zh-CN"/>
          </a:p>
          <a:p>
            <a:r>
              <a:rPr lang="en-US" altLang="zh-CN"/>
              <a:t>top-k=3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5582285" y="1629410"/>
            <a:ext cx="2041525" cy="7664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后台服务提供接口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5207000" y="5807075"/>
            <a:ext cx="1981835" cy="10623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文件（数据集）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216140" y="6017895"/>
            <a:ext cx="1932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文件服务器</a:t>
            </a:r>
            <a:endParaRPr lang="zh-CN" altLang="en-US"/>
          </a:p>
          <a:p>
            <a:r>
              <a:rPr lang="en-US" altLang="zh-CN"/>
              <a:t>minio(</a:t>
            </a:r>
            <a:r>
              <a:rPr lang="zh-CN" altLang="en-US"/>
              <a:t>工具）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694815" y="5574665"/>
            <a:ext cx="2269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-----</a:t>
            </a:r>
            <a:r>
              <a:rPr lang="en-US" altLang="zh-CN" sz="1200"/>
              <a:t>----------------------------------</a:t>
            </a:r>
            <a:endParaRPr lang="en-US" altLang="zh-CN" sz="1200"/>
          </a:p>
          <a:p>
            <a:r>
              <a:rPr lang="en-US" altLang="zh-CN" sz="1200"/>
              <a:t>--------------------------</a:t>
            </a:r>
            <a:endParaRPr lang="en-US" altLang="zh-CN" sz="1200"/>
          </a:p>
        </p:txBody>
      </p:sp>
      <p:cxnSp>
        <p:nvCxnSpPr>
          <p:cNvPr id="36" name="直接箭头连接符 35"/>
          <p:cNvCxnSpPr/>
          <p:nvPr/>
        </p:nvCxnSpPr>
        <p:spPr>
          <a:xfrm flipV="1">
            <a:off x="4558030" y="4946650"/>
            <a:ext cx="3147060" cy="1180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5250815" y="5206365"/>
            <a:ext cx="3506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解析与拆分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623810" y="5698490"/>
            <a:ext cx="2110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langchain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10081895" y="5779770"/>
            <a:ext cx="2110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向量数据库：</a:t>
            </a:r>
            <a:r>
              <a:rPr lang="en-US" altLang="zh-CN"/>
              <a:t>faiss,milvus,chroma,pgvector</a:t>
            </a:r>
            <a:r>
              <a:rPr lang="zh-CN" altLang="en-US"/>
              <a:t>等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577070" y="1546860"/>
            <a:ext cx="2700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查询（排序、去重过滤）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2" name="流程图: 多文档 41"/>
          <p:cNvSpPr/>
          <p:nvPr/>
        </p:nvSpPr>
        <p:spPr>
          <a:xfrm>
            <a:off x="243205" y="5535930"/>
            <a:ext cx="3383915" cy="1286510"/>
          </a:xfrm>
          <a:prstGeom prst="flowChartMultidocumen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441325" y="5848350"/>
            <a:ext cx="22694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1.</a:t>
            </a:r>
            <a:r>
              <a:rPr lang="zh-CN" altLang="en-US" sz="1200">
                <a:sym typeface="+mn-ea"/>
              </a:rPr>
              <a:t>性价比商的商品：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a.honor</a:t>
            </a:r>
            <a:r>
              <a:rPr lang="zh-CN" altLang="en-US" sz="1200">
                <a:sym typeface="+mn-ea"/>
              </a:rPr>
              <a:t>手机</a:t>
            </a:r>
            <a:r>
              <a:rPr lang="en-US" altLang="zh-CN" sz="1200">
                <a:sym typeface="+mn-ea"/>
              </a:rPr>
              <a:t>[</a:t>
            </a:r>
            <a:r>
              <a:rPr lang="zh-CN" altLang="en-US" sz="1200">
                <a:sym typeface="+mn-ea"/>
              </a:rPr>
              <a:t>图片</a:t>
            </a:r>
            <a:r>
              <a:rPr lang="en-US" altLang="zh-CN" sz="1200">
                <a:sym typeface="+mn-ea"/>
              </a:rPr>
              <a:t>]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2.</a:t>
            </a:r>
            <a:r>
              <a:rPr lang="zh-CN" altLang="en-US" sz="1200">
                <a:sym typeface="+mn-ea"/>
              </a:rPr>
              <a:t>低价商品，有一点性价优势：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a.vivo</a:t>
            </a:r>
            <a:r>
              <a:rPr lang="zh-CN" altLang="en-US" sz="1200">
                <a:sym typeface="+mn-ea"/>
              </a:rPr>
              <a:t>手机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3. </a:t>
            </a:r>
            <a:r>
              <a:rPr lang="zh-CN" altLang="en-US" sz="1200">
                <a:sym typeface="+mn-ea"/>
              </a:rPr>
              <a:t>国产手机，适合低价购买者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a.</a:t>
            </a:r>
            <a:r>
              <a:rPr lang="zh-CN" altLang="en-US" sz="1200">
                <a:sym typeface="+mn-ea"/>
              </a:rPr>
              <a:t>阿朵手机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4. others </a:t>
            </a:r>
            <a:endParaRPr lang="en-US" altLang="zh-CN" sz="1200">
              <a:sym typeface="+mn-ea"/>
            </a:endParaRPr>
          </a:p>
          <a:p>
            <a:r>
              <a:rPr lang="en-US" altLang="zh-CN" sz="1200"/>
              <a:t>----------------------------------</a:t>
            </a:r>
            <a:endParaRPr lang="en-US" altLang="zh-CN" sz="1200"/>
          </a:p>
          <a:p>
            <a:r>
              <a:rPr lang="en-US" altLang="zh-CN" sz="1200"/>
              <a:t>--------------------------</a:t>
            </a:r>
            <a:endParaRPr lang="en-US" altLang="zh-CN" sz="1200"/>
          </a:p>
        </p:txBody>
      </p:sp>
      <p:sp>
        <p:nvSpPr>
          <p:cNvPr id="48" name="文本框 47"/>
          <p:cNvSpPr txBox="1"/>
          <p:nvPr/>
        </p:nvSpPr>
        <p:spPr>
          <a:xfrm>
            <a:off x="8286750" y="6674485"/>
            <a:ext cx="64115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FF0000"/>
                </a:solidFill>
              </a:rPr>
              <a:t>手机编码</a:t>
            </a:r>
            <a:r>
              <a:rPr lang="en-US" altLang="zh-CN" sz="1200" b="1">
                <a:solidFill>
                  <a:srgbClr val="FF0000"/>
                </a:solidFill>
              </a:rPr>
              <a:t>          </a:t>
            </a:r>
            <a:r>
              <a:rPr lang="zh-CN" altLang="en-US" sz="1200" b="1">
                <a:solidFill>
                  <a:srgbClr val="FF0000"/>
                </a:solidFill>
              </a:rPr>
              <a:t>手机图片地址</a:t>
            </a:r>
            <a:endParaRPr lang="en-US" altLang="zh-CN" sz="1200" b="1">
              <a:solidFill>
                <a:srgbClr val="FF0000"/>
              </a:solidFill>
            </a:endParaRPr>
          </a:p>
          <a:p>
            <a:r>
              <a:rPr lang="en-US" altLang="zh-CN" sz="1200" b="1">
                <a:solidFill>
                  <a:srgbClr val="FF0000"/>
                </a:solidFill>
              </a:rPr>
              <a:t>honor1mage1,  http://xxftp.com/honorphone.jpg</a:t>
            </a:r>
            <a:endParaRPr lang="en-US" altLang="zh-CN" sz="1200" b="1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 flipH="1">
            <a:off x="10702925" y="1892935"/>
            <a:ext cx="796925" cy="4902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文本框 43"/>
          <p:cNvSpPr txBox="1"/>
          <p:nvPr/>
        </p:nvSpPr>
        <p:spPr>
          <a:xfrm>
            <a:off x="549275" y="431800"/>
            <a:ext cx="75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5" name="文本框 44"/>
          <p:cNvSpPr txBox="1"/>
          <p:nvPr/>
        </p:nvSpPr>
        <p:spPr>
          <a:xfrm>
            <a:off x="4882515" y="431800"/>
            <a:ext cx="75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矩形 45"/>
          <p:cNvSpPr/>
          <p:nvPr/>
        </p:nvSpPr>
        <p:spPr>
          <a:xfrm>
            <a:off x="494665" y="850265"/>
            <a:ext cx="3684905" cy="133032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549275" y="850265"/>
            <a:ext cx="33337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key1:   </a:t>
            </a:r>
            <a:r>
              <a:rPr lang="en-US" altLang="zh-CN" sz="1200">
                <a:sym typeface="+mn-ea"/>
              </a:rPr>
              <a:t>5.</a:t>
            </a:r>
            <a:r>
              <a:rPr lang="zh-CN" altLang="en-US" sz="1200">
                <a:sym typeface="+mn-ea"/>
              </a:rPr>
              <a:t>性价比商的商品：</a:t>
            </a:r>
            <a:r>
              <a:rPr lang="en-US" altLang="zh-CN" sz="1200">
                <a:sym typeface="+mn-ea"/>
              </a:rPr>
              <a:t>                 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  a.honor</a:t>
            </a:r>
            <a:r>
              <a:rPr lang="zh-CN" altLang="en-US" sz="1200">
                <a:sym typeface="+mn-ea"/>
              </a:rPr>
              <a:t>手机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key2:  2.</a:t>
            </a:r>
            <a:r>
              <a:rPr lang="zh-CN" altLang="en-US" sz="1200">
                <a:sym typeface="+mn-ea"/>
              </a:rPr>
              <a:t>低价商品，有一点性价优势：</a:t>
            </a:r>
            <a:r>
              <a:rPr lang="en-US" altLang="zh-CN" sz="1200">
                <a:sym typeface="+mn-ea"/>
              </a:rPr>
              <a:t>    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key3: 3. </a:t>
            </a:r>
            <a:r>
              <a:rPr lang="zh-CN" altLang="en-US" sz="1200">
                <a:sym typeface="+mn-ea"/>
              </a:rPr>
              <a:t>国产手机，适合低价购买者</a:t>
            </a:r>
            <a:r>
              <a:rPr lang="en-US" altLang="zh-CN" sz="1200">
                <a:sym typeface="+mn-ea"/>
              </a:rPr>
              <a:t>     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a.</a:t>
            </a:r>
            <a:r>
              <a:rPr lang="zh-CN" altLang="en-US" sz="1200">
                <a:sym typeface="+mn-ea"/>
              </a:rPr>
              <a:t>阿朵手机</a:t>
            </a:r>
            <a:endParaRPr lang="zh-CN" altLang="en-US" sz="1200"/>
          </a:p>
          <a:p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1512570" y="485775"/>
            <a:ext cx="1177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cache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514215" y="850265"/>
            <a:ext cx="3684905" cy="133032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98365" y="942340"/>
            <a:ext cx="30581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keyN:   5.</a:t>
            </a:r>
            <a:r>
              <a:rPr lang="zh-CN" altLang="en-US" sz="1200">
                <a:sym typeface="+mn-ea"/>
              </a:rPr>
              <a:t>性价比商的商品：</a:t>
            </a:r>
            <a:r>
              <a:rPr lang="en-US" altLang="zh-CN" sz="1200">
                <a:sym typeface="+mn-ea"/>
              </a:rPr>
              <a:t>                 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  a.hua</a:t>
            </a:r>
            <a:r>
              <a:rPr lang="zh-CN" altLang="en-US" sz="1200">
                <a:sym typeface="+mn-ea"/>
              </a:rPr>
              <a:t>手机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key2:  2.</a:t>
            </a:r>
            <a:r>
              <a:rPr lang="zh-CN" altLang="en-US" sz="1200">
                <a:sym typeface="+mn-ea"/>
              </a:rPr>
              <a:t>低价商品，有一点性价优势：</a:t>
            </a:r>
            <a:r>
              <a:rPr lang="en-US" altLang="zh-CN" sz="1200">
                <a:sym typeface="+mn-ea"/>
              </a:rPr>
              <a:t>    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key4: 6. </a:t>
            </a:r>
            <a:r>
              <a:rPr lang="en-US" sz="1200">
                <a:sym typeface="+mn-ea"/>
              </a:rPr>
              <a:t>----------</a:t>
            </a:r>
            <a:endParaRPr lang="en-US" sz="1200"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544570" y="2333625"/>
            <a:ext cx="453390" cy="768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4103370" y="2235200"/>
            <a:ext cx="782320" cy="835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462530" y="3124835"/>
            <a:ext cx="3684905" cy="145478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644140" y="3255645"/>
            <a:ext cx="32162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key1:   5.</a:t>
            </a:r>
            <a:r>
              <a:rPr lang="zh-CN" altLang="en-US" sz="1200">
                <a:sym typeface="+mn-ea"/>
              </a:rPr>
              <a:t>性价比商的商品：</a:t>
            </a:r>
            <a:r>
              <a:rPr lang="en-US" altLang="zh-CN" sz="1200">
                <a:sym typeface="+mn-ea"/>
              </a:rPr>
              <a:t>                 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  a.honor</a:t>
            </a:r>
            <a:r>
              <a:rPr lang="zh-CN" altLang="en-US" sz="1200">
                <a:sym typeface="+mn-ea"/>
              </a:rPr>
              <a:t>手机</a:t>
            </a:r>
            <a:endParaRPr lang="zh-CN" altLang="en-US" sz="1200">
              <a:sym typeface="+mn-ea"/>
            </a:endParaRPr>
          </a:p>
          <a:p>
            <a:r>
              <a:rPr lang="en-US" altLang="zh-CN" sz="1200"/>
              <a:t>keyN: ____________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key2:  2.</a:t>
            </a:r>
            <a:r>
              <a:rPr lang="zh-CN" altLang="en-US" sz="1200">
                <a:sym typeface="+mn-ea"/>
              </a:rPr>
              <a:t>低价商品，有一点性价优势：</a:t>
            </a:r>
            <a:r>
              <a:rPr lang="en-US" altLang="zh-CN" sz="1200">
                <a:sym typeface="+mn-ea"/>
              </a:rPr>
              <a:t>    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key3: 3. </a:t>
            </a:r>
            <a:r>
              <a:rPr lang="zh-CN" altLang="en-US" sz="1200">
                <a:sym typeface="+mn-ea"/>
              </a:rPr>
              <a:t>国产手机，适合低价购买者</a:t>
            </a:r>
            <a:r>
              <a:rPr lang="en-US" altLang="zh-CN" sz="1200">
                <a:sym typeface="+mn-ea"/>
              </a:rPr>
              <a:t>      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a.</a:t>
            </a:r>
            <a:r>
              <a:rPr lang="zh-CN" altLang="en-US" sz="1200">
                <a:sym typeface="+mn-ea"/>
              </a:rPr>
              <a:t>阿朵手机</a:t>
            </a:r>
            <a:endParaRPr lang="zh-CN" altLang="en-US" sz="1200">
              <a:sym typeface="+mn-ea"/>
            </a:endParaRPr>
          </a:p>
          <a:p>
            <a:r>
              <a:rPr lang="en-US" altLang="zh-CN" sz="1200">
                <a:sym typeface="+mn-ea"/>
              </a:rPr>
              <a:t>key4: key4: 6. </a:t>
            </a:r>
            <a:r>
              <a:rPr lang="en-US" sz="1200">
                <a:sym typeface="+mn-ea"/>
              </a:rPr>
              <a:t>----------</a:t>
            </a:r>
            <a:endParaRPr lang="en-US" sz="1200">
              <a:sym typeface="+mn-ea"/>
            </a:endParaRPr>
          </a:p>
          <a:p>
            <a:endParaRPr lang="en-US" altLang="zh-CN" sz="120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7105" y="2419350"/>
            <a:ext cx="2359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redis:kev-value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3955" y="5252720"/>
            <a:ext cx="20650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user_id+score</a:t>
            </a:r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en-US" altLang="zh-CN">
                <a:solidFill>
                  <a:srgbClr val="FF0000"/>
                </a:solidFill>
              </a:rPr>
              <a:t>key</a:t>
            </a:r>
            <a:r>
              <a:rPr lang="zh-CN" altLang="en-US">
                <a:solidFill>
                  <a:srgbClr val="FF0000"/>
                </a:solidFill>
              </a:rPr>
              <a:t>唯一）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8975" y="1645920"/>
            <a:ext cx="1287780" cy="6032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2142490" y="1958340"/>
            <a:ext cx="105664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310890" y="1095375"/>
            <a:ext cx="4398645" cy="33039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33775" y="1348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StudentSelectedSubjectRouter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660140" y="1794510"/>
            <a:ext cx="4189730" cy="186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selected_</a:t>
            </a:r>
            <a:r>
              <a:rPr lang="en-US" altLang="zh-CN"/>
              <a:t>subject(params):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、创建课程记录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创建课程内容记录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、创建用户选课记录（包括课程及选择内容）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created_subject():</a:t>
            </a:r>
            <a:endParaRPr lang="en-US" altLang="zh-CN"/>
          </a:p>
          <a:p>
            <a:r>
              <a:rPr lang="zh-CN" altLang="en-US">
                <a:sym typeface="+mn-ea"/>
              </a:rPr>
              <a:t>创建课程记录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created_subject_content():</a:t>
            </a:r>
            <a:endParaRPr lang="en-US" altLang="zh-CN"/>
          </a:p>
          <a:p>
            <a:r>
              <a:rPr lang="zh-CN" altLang="en-US">
                <a:sym typeface="+mn-ea"/>
              </a:rPr>
              <a:t>创建课程内容记录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8075295" y="1095375"/>
            <a:ext cx="3282950" cy="33039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柱形 9"/>
          <p:cNvSpPr/>
          <p:nvPr/>
        </p:nvSpPr>
        <p:spPr>
          <a:xfrm>
            <a:off x="8987790" y="3096895"/>
            <a:ext cx="1851660" cy="8261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451215" y="1400810"/>
            <a:ext cx="28486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subject(</a:t>
            </a:r>
            <a:r>
              <a:rPr lang="zh-CN" altLang="en-US"/>
              <a:t>课程表）</a:t>
            </a:r>
            <a:endParaRPr lang="zh-CN" altLang="en-US"/>
          </a:p>
          <a:p>
            <a:r>
              <a:rPr lang="en-US" altLang="zh-CN"/>
              <a:t>subject_content(</a:t>
            </a:r>
            <a:r>
              <a:rPr lang="zh-CN" altLang="en-US"/>
              <a:t>课程内容表）</a:t>
            </a:r>
            <a:endParaRPr lang="zh-CN" altLang="en-US"/>
          </a:p>
          <a:p>
            <a:r>
              <a:rPr lang="en-US" altLang="zh-CN"/>
              <a:t>user_selected_subject_content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6292850" y="1645920"/>
            <a:ext cx="1689100" cy="7073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130415" y="1537970"/>
            <a:ext cx="944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orm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2066925" y="1043940"/>
            <a:ext cx="11537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动态新增用户选课记录</a:t>
            </a:r>
            <a:endParaRPr lang="zh-CN" altLang="en-US"/>
          </a:p>
        </p:txBody>
      </p:sp>
      <p:cxnSp>
        <p:nvCxnSpPr>
          <p:cNvPr id="15" name="肘形连接符 14"/>
          <p:cNvCxnSpPr/>
          <p:nvPr/>
        </p:nvCxnSpPr>
        <p:spPr>
          <a:xfrm>
            <a:off x="1388745" y="2338070"/>
            <a:ext cx="1934845" cy="320040"/>
          </a:xfrm>
          <a:prstGeom prst="bentConnector3">
            <a:avLst>
              <a:gd name="adj1" fmla="val 39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909445" y="2338070"/>
            <a:ext cx="1289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新增课程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909445" y="2889250"/>
            <a:ext cx="1289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新增课程内容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931035" y="3745230"/>
            <a:ext cx="1289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分配用户课程</a:t>
            </a:r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6292850" y="3335655"/>
            <a:ext cx="1689100" cy="7073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904990" y="3335655"/>
            <a:ext cx="944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orm</a:t>
            </a:r>
            <a:endParaRPr lang="en-US" altLang="zh-CN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6532880" y="4170045"/>
            <a:ext cx="1689100" cy="7073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037070" y="4043045"/>
            <a:ext cx="944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orm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61035" y="1059180"/>
            <a:ext cx="1287780" cy="6032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2114550" y="1371600"/>
            <a:ext cx="105664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282950" y="508635"/>
            <a:ext cx="4398645" cy="4051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36220" y="5210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SubjectRouter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462020" y="454025"/>
            <a:ext cx="3843655" cy="186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selected_subject</a:t>
            </a:r>
            <a:r>
              <a:rPr lang="en-US" altLang="zh-CN"/>
              <a:t>(params):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、创建课程记录</a:t>
            </a:r>
            <a:r>
              <a:rPr lang="en-US">
                <a:sym typeface="+mn-ea"/>
              </a:rPr>
              <a:t>subject_service.created_subject()</a:t>
            </a:r>
            <a:endParaRPr lang="en-US">
              <a:sym typeface="+mn-ea"/>
            </a:endParaRPr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创建课程内容记录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subject_content_service.created_subject_content():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、创建用户选课记录（包括课程及选择内容）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created_subject():</a:t>
            </a:r>
            <a:endParaRPr lang="en-US" altLang="zh-CN"/>
          </a:p>
          <a:p>
            <a:r>
              <a:rPr lang="zh-CN" altLang="en-US">
                <a:sym typeface="+mn-ea"/>
              </a:rPr>
              <a:t>创建课程记录</a:t>
            </a:r>
            <a:r>
              <a:rPr lang="en-US">
                <a:sym typeface="+mn-ea"/>
              </a:rPr>
              <a:t>subject_service.created_sbject()</a:t>
            </a:r>
            <a:endParaRPr lang="en-US" altLang="zh-CN"/>
          </a:p>
          <a:p>
            <a:r>
              <a:rPr lang="en-US" altLang="zh-CN">
                <a:sym typeface="+mn-ea"/>
              </a:rPr>
              <a:t>StudentSelectedSubjectService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created_subject_content():</a:t>
            </a:r>
            <a:endParaRPr lang="en-US" altLang="zh-CN"/>
          </a:p>
          <a:p>
            <a:r>
              <a:rPr lang="zh-CN" altLang="en-US">
                <a:sym typeface="+mn-ea"/>
              </a:rPr>
              <a:t>创建课程内容记录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8047355" y="508635"/>
            <a:ext cx="3282950" cy="33039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柱形 9"/>
          <p:cNvSpPr/>
          <p:nvPr/>
        </p:nvSpPr>
        <p:spPr>
          <a:xfrm>
            <a:off x="8959850" y="2510155"/>
            <a:ext cx="1851660" cy="8261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423275" y="814070"/>
            <a:ext cx="28486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subject(</a:t>
            </a:r>
            <a:r>
              <a:rPr lang="zh-CN" altLang="en-US"/>
              <a:t>课程表）</a:t>
            </a:r>
            <a:endParaRPr lang="zh-CN" altLang="en-US"/>
          </a:p>
          <a:p>
            <a:r>
              <a:rPr lang="en-US" altLang="zh-CN"/>
              <a:t>subject_content(</a:t>
            </a:r>
            <a:r>
              <a:rPr lang="zh-CN" altLang="en-US"/>
              <a:t>课程内容表）</a:t>
            </a:r>
            <a:endParaRPr lang="zh-CN" altLang="en-US"/>
          </a:p>
          <a:p>
            <a:r>
              <a:rPr lang="en-US" altLang="zh-CN"/>
              <a:t>user_selected_subject_content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2038985" y="457200"/>
            <a:ext cx="11537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动态新增用户选课记录</a:t>
            </a:r>
            <a:endParaRPr lang="zh-CN" altLang="en-US"/>
          </a:p>
        </p:txBody>
      </p:sp>
      <p:cxnSp>
        <p:nvCxnSpPr>
          <p:cNvPr id="15" name="肘形连接符 14"/>
          <p:cNvCxnSpPr/>
          <p:nvPr/>
        </p:nvCxnSpPr>
        <p:spPr>
          <a:xfrm>
            <a:off x="1360805" y="1751330"/>
            <a:ext cx="1934845" cy="320040"/>
          </a:xfrm>
          <a:prstGeom prst="bentConnector3">
            <a:avLst>
              <a:gd name="adj1" fmla="val 39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881505" y="1751330"/>
            <a:ext cx="1289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新增课程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881505" y="2302510"/>
            <a:ext cx="1289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新增课程内容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903095" y="3158490"/>
            <a:ext cx="1289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分配用户课程</a:t>
            </a:r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7102475" y="3655060"/>
            <a:ext cx="1581150" cy="2388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8556625" y="4022090"/>
            <a:ext cx="944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orm</a:t>
            </a:r>
            <a:endParaRPr lang="en-US" altLang="zh-CN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7225665" y="3089275"/>
            <a:ext cx="1330960" cy="18040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225665" y="4022090"/>
            <a:ext cx="944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orm</a:t>
            </a:r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3364230" y="4658360"/>
            <a:ext cx="3816350" cy="12045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887970" y="4690745"/>
            <a:ext cx="2754630" cy="14065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758565" y="5961380"/>
            <a:ext cx="3594100" cy="7893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047355" y="4798060"/>
            <a:ext cx="2763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SubjectService</a:t>
            </a:r>
            <a:endParaRPr lang="en-US" altLang="zh-CN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46855" y="5902960"/>
            <a:ext cx="2763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SubjectContentService</a:t>
            </a:r>
            <a:endParaRPr lang="en-US" altLang="zh-CN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887970" y="519938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created_subject():</a:t>
            </a:r>
            <a:endParaRPr lang="en-US" altLang="zh-CN"/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subject_name = a,sbject_code=a001)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617595" y="64884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created_subject_content():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691255" y="5575300"/>
            <a:ext cx="32505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>
              <a:sym typeface="+mn-ea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8497570" y="3852545"/>
            <a:ext cx="1689100" cy="7073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475220" y="4362450"/>
            <a:ext cx="858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orm</a:t>
            </a:r>
            <a:endParaRPr lang="en-US" altLang="zh-CN">
              <a:sym typeface="+mn-ea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6614795" y="4563110"/>
            <a:ext cx="6985" cy="156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0" y="5166360"/>
            <a:ext cx="2879725" cy="7950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90855" y="6196330"/>
            <a:ext cx="1289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新增课程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36220" y="5582920"/>
            <a:ext cx="2197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created_subject():</a:t>
            </a:r>
            <a:endParaRPr lang="en-US" altLang="zh-CN">
              <a:sym typeface="+mn-ea"/>
            </a:endParaRPr>
          </a:p>
        </p:txBody>
      </p:sp>
      <p:cxnSp>
        <p:nvCxnSpPr>
          <p:cNvPr id="38" name="直接箭头连接符 37"/>
          <p:cNvCxnSpPr>
            <a:endCxn id="26" idx="1"/>
          </p:cNvCxnSpPr>
          <p:nvPr/>
        </p:nvCxnSpPr>
        <p:spPr>
          <a:xfrm flipV="1">
            <a:off x="2506980" y="5660390"/>
            <a:ext cx="5380990" cy="283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圆角矩形 11"/>
          <p:cNvSpPr/>
          <p:nvPr/>
        </p:nvSpPr>
        <p:spPr>
          <a:xfrm>
            <a:off x="734695" y="1330960"/>
            <a:ext cx="1645920" cy="742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日志等级（</a:t>
            </a:r>
            <a:r>
              <a:rPr lang="en-US" altLang="zh-CN"/>
              <a:t>level)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3338830" y="628015"/>
            <a:ext cx="2812415" cy="25488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>
            <a:off x="2540635" y="1714500"/>
            <a:ext cx="407035" cy="1358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491865" y="962660"/>
            <a:ext cx="21145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Error:</a:t>
            </a:r>
            <a:r>
              <a:rPr lang="zh-CN" altLang="en-US"/>
              <a:t>错误</a:t>
            </a:r>
            <a:endParaRPr lang="zh-CN" altLang="en-US"/>
          </a:p>
          <a:p>
            <a:r>
              <a:rPr lang="en-US" altLang="zh-CN"/>
              <a:t>Warnning:</a:t>
            </a:r>
            <a:r>
              <a:rPr lang="zh-CN" altLang="en-US"/>
              <a:t>警告</a:t>
            </a:r>
            <a:endParaRPr lang="zh-CN" altLang="en-US"/>
          </a:p>
          <a:p>
            <a:r>
              <a:rPr lang="en-US" altLang="zh-CN"/>
              <a:t>Info:</a:t>
            </a:r>
            <a:r>
              <a:rPr lang="zh-CN" altLang="en-US"/>
              <a:t>记录一般信息</a:t>
            </a:r>
            <a:endParaRPr lang="zh-CN" altLang="en-US"/>
          </a:p>
          <a:p>
            <a:r>
              <a:rPr lang="en-US" altLang="zh-CN"/>
              <a:t>Debug:</a:t>
            </a:r>
            <a:r>
              <a:rPr lang="zh-CN" altLang="en-US"/>
              <a:t>调试信息</a:t>
            </a:r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6431280" y="1515110"/>
            <a:ext cx="582930" cy="4711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7421245" y="1515110"/>
            <a:ext cx="3020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Error&gt;Warning&gt;Info&gt;Debug</a:t>
            </a:r>
            <a:endParaRPr lang="en-US" altLang="zh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064510" y="3847465"/>
            <a:ext cx="60623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导入</a:t>
            </a:r>
            <a:r>
              <a:rPr lang="en-US" altLang="zh-CN"/>
              <a:t>logging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实例化</a:t>
            </a:r>
            <a:r>
              <a:rPr lang="en-US" altLang="zh-CN"/>
              <a:t> logger = logging.getLogger("jieba_init")</a:t>
            </a:r>
            <a:endParaRPr lang="en-US" altLang="zh-CN"/>
          </a:p>
          <a:p>
            <a:r>
              <a:rPr lang="en-US" altLang="zh-CN"/>
              <a:t>3.logger.error(</a:t>
            </a:r>
            <a:r>
              <a:rPr lang="zh-CN" altLang="en-US"/>
              <a:t>），</a:t>
            </a:r>
            <a:r>
              <a:rPr lang="en-US" altLang="zh-CN"/>
              <a:t>logger.warning(),logger.info,logger.debug()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圆角矩形 11"/>
          <p:cNvSpPr/>
          <p:nvPr/>
        </p:nvSpPr>
        <p:spPr>
          <a:xfrm>
            <a:off x="734695" y="1330960"/>
            <a:ext cx="1645920" cy="742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日志等级（</a:t>
            </a:r>
            <a:r>
              <a:rPr lang="en-US" altLang="zh-CN"/>
              <a:t>level)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3338830" y="628015"/>
            <a:ext cx="2812415" cy="25488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>
            <a:off x="2540635" y="1714500"/>
            <a:ext cx="407035" cy="1358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491865" y="962660"/>
            <a:ext cx="249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step1: </a:t>
            </a:r>
            <a:r>
              <a:rPr lang="zh-CN" altLang="en-US"/>
              <a:t>新增课程</a:t>
            </a:r>
            <a:endParaRPr lang="en-US"/>
          </a:p>
          <a:p>
            <a:r>
              <a:rPr lang="en-US" altLang="zh-CN"/>
              <a:t>step2: </a:t>
            </a:r>
            <a:r>
              <a:rPr lang="zh-CN" altLang="en-US"/>
              <a:t>新增课程内容</a:t>
            </a:r>
            <a:endParaRPr lang="zh-CN" altLang="en-US"/>
          </a:p>
          <a:p>
            <a:r>
              <a:rPr lang="en-US" altLang="zh-CN"/>
              <a:t>setp3:</a:t>
            </a:r>
            <a:r>
              <a:rPr lang="zh-CN" altLang="en-US"/>
              <a:t>新增学生选课</a:t>
            </a:r>
            <a:r>
              <a:rPr lang="zh-CN"/>
              <a:t>记录</a:t>
            </a:r>
            <a:endParaRPr lang="zh-CN"/>
          </a:p>
        </p:txBody>
      </p:sp>
      <p:sp>
        <p:nvSpPr>
          <p:cNvPr id="2" name="矩形 1"/>
          <p:cNvSpPr/>
          <p:nvPr/>
        </p:nvSpPr>
        <p:spPr>
          <a:xfrm>
            <a:off x="7291070" y="628015"/>
            <a:ext cx="4606925" cy="25488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5281295" y="1072515"/>
            <a:ext cx="1570990" cy="323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479030" y="876935"/>
            <a:ext cx="2466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{“subject_name”:”ai”</a:t>
            </a:r>
            <a:endParaRPr lang="en-US" altLang="zh-CN"/>
          </a:p>
          <a:p>
            <a:r>
              <a:rPr lang="en-US" altLang="zh-CN"/>
              <a:t>“teacher”: “wu”}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7174865" y="4155440"/>
          <a:ext cx="4267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subject_name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teacher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ai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wu-&gt;zhang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7110095" y="5594350"/>
          <a:ext cx="4267200" cy="962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</a:tblGrid>
              <a:tr h="5969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subject_id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content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10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wu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479030" y="1714500"/>
            <a:ext cx="2466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{“content”:”langchain”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</p:txBody>
      </p:sp>
      <p:sp>
        <p:nvSpPr>
          <p:cNvPr id="9" name="左箭头 8"/>
          <p:cNvSpPr/>
          <p:nvPr/>
        </p:nvSpPr>
        <p:spPr>
          <a:xfrm>
            <a:off x="2519680" y="2298700"/>
            <a:ext cx="523240" cy="13081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819150" y="2443480"/>
            <a:ext cx="2197735" cy="9855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routers: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3759835" y="2443480"/>
            <a:ext cx="2197735" cy="9855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services: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6969125" y="2443480"/>
            <a:ext cx="2197735" cy="9855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dao: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9872980" y="2443480"/>
            <a:ext cx="2197735" cy="9855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models:</a:t>
            </a:r>
            <a:endParaRPr lang="en-US" altLang="zh-CN"/>
          </a:p>
          <a:p>
            <a:pPr algn="ctr"/>
            <a:endParaRPr lang="en-US" altLang="zh-CN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331210" y="2917825"/>
            <a:ext cx="3225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6205220" y="2917825"/>
            <a:ext cx="3225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9257665" y="2917825"/>
            <a:ext cx="3225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554990" y="142875"/>
            <a:ext cx="4040505" cy="14662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Q1: </a:t>
            </a:r>
            <a:r>
              <a:rPr lang="zh-CN" altLang="en-US"/>
              <a:t>湖南</a:t>
            </a:r>
            <a:r>
              <a:rPr lang="zh-CN" altLang="en-US"/>
              <a:t>最近天气</a:t>
            </a:r>
            <a:r>
              <a:rPr lang="zh-CN" altLang="en-US"/>
              <a:t>如何？</a:t>
            </a:r>
            <a:endParaRPr lang="zh-CN" altLang="en-US"/>
          </a:p>
          <a:p>
            <a:pPr algn="l"/>
            <a:r>
              <a:rPr lang="en-US" altLang="zh-CN"/>
              <a:t>Q2:</a:t>
            </a:r>
            <a:r>
              <a:rPr lang="zh-CN" altLang="en-US"/>
              <a:t>推荐一个适合自驾游的旅游</a:t>
            </a:r>
            <a:r>
              <a:rPr lang="zh-CN" altLang="en-US"/>
              <a:t>项目？</a:t>
            </a:r>
            <a:endParaRPr lang="zh-CN" altLang="en-US"/>
          </a:p>
          <a:p>
            <a:pPr algn="l"/>
            <a:r>
              <a:rPr lang="en-US" altLang="zh-CN"/>
              <a:t>Q3:</a:t>
            </a:r>
            <a:r>
              <a:rPr lang="zh-CN" altLang="en-US"/>
              <a:t>制定一个三天三晚出玩计划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6" name="右箭头 5"/>
          <p:cNvSpPr/>
          <p:nvPr/>
        </p:nvSpPr>
        <p:spPr>
          <a:xfrm>
            <a:off x="4851400" y="528955"/>
            <a:ext cx="803910" cy="4984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22620" y="142875"/>
            <a:ext cx="5993765" cy="38982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ym typeface="+mn-ea"/>
              </a:rPr>
              <a:t>Q1: </a:t>
            </a:r>
            <a:r>
              <a:rPr lang="zh-CN" altLang="en-US">
                <a:sym typeface="+mn-ea"/>
              </a:rPr>
              <a:t>湖南最近天气如何？</a:t>
            </a:r>
            <a:endParaRPr lang="zh-CN" altLang="en-US"/>
          </a:p>
          <a:p>
            <a:pPr algn="l"/>
            <a:r>
              <a:rPr lang="en-US" altLang="zh-CN"/>
              <a:t>A1: </a:t>
            </a:r>
            <a:r>
              <a:rPr lang="zh-CN" altLang="en-US"/>
              <a:t>长沙天气</a:t>
            </a:r>
            <a:r>
              <a:rPr lang="en-US" altLang="zh-CN"/>
              <a:t>..................................................</a:t>
            </a:r>
            <a:endParaRPr lang="en-US" altLang="zh-CN"/>
          </a:p>
          <a:p>
            <a:pPr algn="l"/>
            <a:r>
              <a:rPr lang="zh-CN" altLang="en-US"/>
              <a:t>岳阳天气</a:t>
            </a:r>
            <a:r>
              <a:rPr lang="en-US" altLang="zh-CN"/>
              <a:t>............................................</a:t>
            </a:r>
            <a:endParaRPr lang="en-US" altLang="zh-CN"/>
          </a:p>
          <a:p>
            <a:pPr algn="l"/>
            <a:r>
              <a:rPr lang="en-US" altLang="zh-CN"/>
              <a:t>..............................................</a:t>
            </a:r>
            <a:endParaRPr lang="en-US" altLang="zh-CN"/>
          </a:p>
          <a:p>
            <a:pPr algn="l"/>
            <a:r>
              <a:rPr lang="en-US" altLang="zh-CN"/>
              <a:t>Q2:</a:t>
            </a:r>
            <a:r>
              <a:rPr lang="zh-CN" altLang="en-US">
                <a:sym typeface="+mn-ea"/>
              </a:rPr>
              <a:t>推荐一个适合自驾游的旅游项目？</a:t>
            </a:r>
            <a:endParaRPr lang="en-US" altLang="zh-CN"/>
          </a:p>
          <a:p>
            <a:pPr algn="l"/>
            <a:r>
              <a:rPr lang="en-US" altLang="zh-CN"/>
              <a:t>A2:</a:t>
            </a:r>
            <a:r>
              <a:rPr lang="zh-CN" altLang="en-US"/>
              <a:t>自驾游项目推荐</a:t>
            </a:r>
            <a:r>
              <a:rPr lang="en-US" altLang="zh-CN"/>
              <a:t>1________________________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自驾游项目推荐</a:t>
            </a:r>
            <a:r>
              <a:rPr lang="en-US" altLang="zh-CN">
                <a:sym typeface="+mn-ea"/>
              </a:rPr>
              <a:t>2________________________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自驾游项目推荐</a:t>
            </a:r>
            <a:r>
              <a:rPr lang="en-US" altLang="zh-CN">
                <a:sym typeface="+mn-ea"/>
              </a:rPr>
              <a:t>3________________________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.......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Q3:</a:t>
            </a:r>
            <a:r>
              <a:rPr lang="zh-CN" altLang="en-US">
                <a:sym typeface="+mn-ea"/>
              </a:rPr>
              <a:t>制定一个三天三晚出玩计划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/>
              <a:t>A3:</a:t>
            </a:r>
            <a:endParaRPr lang="en-US" altLang="zh-CN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43230" y="2099945"/>
            <a:ext cx="3891915" cy="17830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ym typeface="+mn-ea"/>
              </a:rPr>
              <a:t>Q1: </a:t>
            </a:r>
            <a:r>
              <a:rPr lang="zh-CN" altLang="en-US">
                <a:sym typeface="+mn-ea"/>
              </a:rPr>
              <a:t>湖南最近天气如何？</a:t>
            </a:r>
            <a:endParaRPr lang="zh-CN" altLang="en-US"/>
          </a:p>
          <a:p>
            <a:pPr algn="l"/>
            <a:r>
              <a:rPr lang="en-US" altLang="zh-CN"/>
              <a:t>A1:{answer1} </a:t>
            </a:r>
            <a:endParaRPr lang="en-US" altLang="zh-CN"/>
          </a:p>
          <a:p>
            <a:pPr algn="l"/>
            <a:r>
              <a:rPr lang="en-US" altLang="zh-CN"/>
              <a:t>Q2:</a:t>
            </a:r>
            <a:r>
              <a:rPr lang="zh-CN" altLang="en-US">
                <a:sym typeface="+mn-ea"/>
              </a:rPr>
              <a:t>推荐一个适合自驾游的旅游项目？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/>
              <a:t>A2:{answer2}</a:t>
            </a:r>
            <a:endParaRPr lang="en-US" altLang="zh-CN"/>
          </a:p>
          <a:p>
            <a:pPr algn="l"/>
            <a:r>
              <a:rPr lang="en-US" altLang="zh-CN"/>
              <a:t>Q3:</a:t>
            </a:r>
            <a:r>
              <a:rPr lang="zh-CN" altLang="en-US">
                <a:sym typeface="+mn-ea"/>
              </a:rPr>
              <a:t>制定一个三天三晚出玩计划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389755" y="1050290"/>
            <a:ext cx="1259205" cy="9975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2" name="表格 11"/>
          <p:cNvGraphicFramePr/>
          <p:nvPr/>
        </p:nvGraphicFramePr>
        <p:xfrm>
          <a:off x="255270" y="4083050"/>
          <a:ext cx="104013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590"/>
                <a:gridCol w="2081530"/>
                <a:gridCol w="65201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用户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用户提问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回答</a:t>
                      </a:r>
                      <a:endParaRPr lang="zh-C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u001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answer1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长沙天气</a:t>
                      </a:r>
                      <a:r>
                        <a:rPr lang="en-US" altLang="zh-CN" sz="1800">
                          <a:sym typeface="+mn-ea"/>
                        </a:rPr>
                        <a:t>..................................................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岳阳天气</a:t>
                      </a:r>
                      <a:r>
                        <a:rPr lang="en-US" altLang="zh-CN" sz="1800">
                          <a:sym typeface="+mn-ea"/>
                        </a:rPr>
                        <a:t>............................................</a:t>
                      </a:r>
                      <a:endParaRPr lang="en-US" altLang="zh-CN" sz="1800"/>
                    </a:p>
                    <a:p>
                      <a:pPr algn="l"/>
                      <a:r>
                        <a:rPr lang="en-US" altLang="zh-CN" sz="1800">
                          <a:sym typeface="+mn-ea"/>
                        </a:rPr>
                        <a:t>..............................................</a:t>
                      </a:r>
                      <a:endParaRPr lang="zh-CN" altLang="en-US"/>
                    </a:p>
                  </a:txBody>
                  <a:tcPr/>
                </a:tc>
              </a:tr>
              <a:tr h="11887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u001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answer2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1________________________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2________________________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3________________________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 algn="l"/>
                      <a:r>
                        <a:rPr lang="en-US" altLang="zh-CN" sz="1800">
                          <a:sym typeface="+mn-ea"/>
                        </a:rPr>
                        <a:t>.......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554990" y="142875"/>
            <a:ext cx="4040505" cy="14662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Q1: </a:t>
            </a:r>
            <a:r>
              <a:rPr lang="zh-CN" altLang="en-US"/>
              <a:t>湖南</a:t>
            </a:r>
            <a:r>
              <a:rPr lang="zh-CN" altLang="en-US"/>
              <a:t>最近天气</a:t>
            </a:r>
            <a:r>
              <a:rPr lang="zh-CN" altLang="en-US"/>
              <a:t>如何？</a:t>
            </a:r>
            <a:endParaRPr lang="zh-CN" altLang="en-US"/>
          </a:p>
          <a:p>
            <a:pPr algn="l"/>
            <a:r>
              <a:rPr lang="en-US" altLang="zh-CN"/>
              <a:t>Q2:</a:t>
            </a:r>
            <a:r>
              <a:rPr lang="zh-CN" altLang="en-US"/>
              <a:t>推荐一个适合自驾游的旅游</a:t>
            </a:r>
            <a:r>
              <a:rPr lang="zh-CN" altLang="en-US"/>
              <a:t>项目？</a:t>
            </a:r>
            <a:endParaRPr lang="zh-CN" altLang="en-US"/>
          </a:p>
          <a:p>
            <a:pPr algn="l"/>
            <a:r>
              <a:rPr lang="en-US" altLang="zh-CN"/>
              <a:t>Q3:</a:t>
            </a:r>
            <a:r>
              <a:rPr lang="zh-CN" altLang="en-US"/>
              <a:t>制定一个三天三晚出玩计划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6" name="右箭头 5"/>
          <p:cNvSpPr/>
          <p:nvPr/>
        </p:nvSpPr>
        <p:spPr>
          <a:xfrm>
            <a:off x="4851400" y="528955"/>
            <a:ext cx="803910" cy="4984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22620" y="142875"/>
            <a:ext cx="5993765" cy="38982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ym typeface="+mn-ea"/>
              </a:rPr>
              <a:t>Q1: </a:t>
            </a:r>
            <a:r>
              <a:rPr lang="zh-CN" altLang="en-US">
                <a:sym typeface="+mn-ea"/>
              </a:rPr>
              <a:t>湖南最近天气如何？</a:t>
            </a:r>
            <a:endParaRPr lang="zh-CN" altLang="en-US"/>
          </a:p>
          <a:p>
            <a:pPr algn="l"/>
            <a:r>
              <a:rPr lang="en-US" altLang="zh-CN"/>
              <a:t>A1: </a:t>
            </a:r>
            <a:r>
              <a:rPr lang="zh-CN" altLang="en-US"/>
              <a:t>长沙天气</a:t>
            </a:r>
            <a:r>
              <a:rPr lang="en-US" altLang="zh-CN"/>
              <a:t>..................................................</a:t>
            </a:r>
            <a:endParaRPr lang="en-US" altLang="zh-CN"/>
          </a:p>
          <a:p>
            <a:pPr algn="l"/>
            <a:r>
              <a:rPr lang="zh-CN" altLang="en-US"/>
              <a:t>岳阳天气</a:t>
            </a:r>
            <a:r>
              <a:rPr lang="en-US" altLang="zh-CN"/>
              <a:t>............................................</a:t>
            </a:r>
            <a:endParaRPr lang="en-US" altLang="zh-CN"/>
          </a:p>
          <a:p>
            <a:pPr algn="l"/>
            <a:r>
              <a:rPr lang="en-US" altLang="zh-CN"/>
              <a:t>..............................................</a:t>
            </a:r>
            <a:endParaRPr lang="en-US" altLang="zh-CN"/>
          </a:p>
          <a:p>
            <a:pPr algn="l"/>
            <a:r>
              <a:rPr lang="en-US" altLang="zh-CN"/>
              <a:t>Q2:</a:t>
            </a:r>
            <a:r>
              <a:rPr lang="zh-CN" altLang="en-US">
                <a:sym typeface="+mn-ea"/>
              </a:rPr>
              <a:t>推荐一个适合自驾游的旅游项目？</a:t>
            </a:r>
            <a:endParaRPr lang="en-US" altLang="zh-CN"/>
          </a:p>
          <a:p>
            <a:pPr algn="l"/>
            <a:r>
              <a:rPr lang="en-US" altLang="zh-CN"/>
              <a:t>A2:</a:t>
            </a:r>
            <a:r>
              <a:rPr lang="zh-CN" altLang="en-US"/>
              <a:t>自驾游项目推荐</a:t>
            </a:r>
            <a:r>
              <a:rPr lang="en-US" altLang="zh-CN"/>
              <a:t>1________________________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自驾游项目推荐</a:t>
            </a:r>
            <a:r>
              <a:rPr lang="en-US" altLang="zh-CN">
                <a:sym typeface="+mn-ea"/>
              </a:rPr>
              <a:t>2________________________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自驾游项目推荐</a:t>
            </a:r>
            <a:r>
              <a:rPr lang="en-US" altLang="zh-CN">
                <a:sym typeface="+mn-ea"/>
              </a:rPr>
              <a:t>3________________________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.......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Q3:</a:t>
            </a:r>
            <a:r>
              <a:rPr lang="zh-CN" altLang="en-US">
                <a:sym typeface="+mn-ea"/>
              </a:rPr>
              <a:t>制定一个三天三晚出玩计划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/>
              <a:t>A3:</a:t>
            </a:r>
            <a:endParaRPr lang="en-US" altLang="zh-CN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43230" y="2099945"/>
            <a:ext cx="3891915" cy="17830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ym typeface="+mn-ea"/>
              </a:rPr>
              <a:t>Q1: </a:t>
            </a:r>
            <a:r>
              <a:rPr lang="zh-CN" altLang="en-US">
                <a:sym typeface="+mn-ea"/>
              </a:rPr>
              <a:t>湖南最近天气如何？</a:t>
            </a:r>
            <a:endParaRPr lang="zh-CN" altLang="en-US"/>
          </a:p>
          <a:p>
            <a:pPr algn="l"/>
            <a:r>
              <a:rPr lang="en-US" altLang="zh-CN"/>
              <a:t>A1:</a:t>
            </a:r>
            <a:r>
              <a:rPr lang="zh-CN" altLang="en-US"/>
              <a:t>长沙：晴天，岳阳：雨天</a:t>
            </a:r>
            <a:endParaRPr lang="en-US" altLang="zh-CN"/>
          </a:p>
          <a:p>
            <a:pPr algn="l"/>
            <a:r>
              <a:rPr lang="en-US" altLang="zh-CN"/>
              <a:t>Q2:</a:t>
            </a:r>
            <a:r>
              <a:rPr lang="zh-CN" altLang="en-US">
                <a:sym typeface="+mn-ea"/>
              </a:rPr>
              <a:t>推荐一个适合自驾游的旅游项目？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/>
              <a:t>A2:</a:t>
            </a:r>
            <a:r>
              <a:rPr lang="zh-CN" altLang="en-US"/>
              <a:t>长沙，</a:t>
            </a:r>
            <a:endParaRPr lang="en-US" altLang="zh-CN"/>
          </a:p>
          <a:p>
            <a:pPr algn="l"/>
            <a:r>
              <a:rPr lang="en-US" altLang="zh-CN"/>
              <a:t>Q3:</a:t>
            </a:r>
            <a:r>
              <a:rPr lang="zh-CN" altLang="en-US">
                <a:sym typeface="+mn-ea"/>
              </a:rPr>
              <a:t>制定一个三天三晚出玩计划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389755" y="1050290"/>
            <a:ext cx="1259205" cy="9975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2" name="表格 11"/>
          <p:cNvGraphicFramePr/>
          <p:nvPr/>
        </p:nvGraphicFramePr>
        <p:xfrm>
          <a:off x="255270" y="4083050"/>
          <a:ext cx="104013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590"/>
                <a:gridCol w="2081530"/>
                <a:gridCol w="65201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用户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用户提问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回答</a:t>
                      </a:r>
                      <a:endParaRPr lang="zh-C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u001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answer1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长沙天气</a:t>
                      </a:r>
                      <a:r>
                        <a:rPr lang="en-US" altLang="zh-CN" sz="1800">
                          <a:sym typeface="+mn-ea"/>
                        </a:rPr>
                        <a:t>..................................................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岳阳天气</a:t>
                      </a:r>
                      <a:r>
                        <a:rPr lang="en-US" altLang="zh-CN" sz="1800">
                          <a:sym typeface="+mn-ea"/>
                        </a:rPr>
                        <a:t>............................................</a:t>
                      </a:r>
                      <a:endParaRPr lang="en-US" altLang="zh-CN" sz="1800"/>
                    </a:p>
                    <a:p>
                      <a:pPr algn="l"/>
                      <a:r>
                        <a:rPr lang="en-US" altLang="zh-CN" sz="1800">
                          <a:sym typeface="+mn-ea"/>
                        </a:rPr>
                        <a:t>..............................................</a:t>
                      </a:r>
                      <a:endParaRPr lang="zh-CN" altLang="en-US"/>
                    </a:p>
                  </a:txBody>
                  <a:tcPr/>
                </a:tc>
              </a:tr>
              <a:tr h="11887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u001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answer2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1________________________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2________________________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3________________________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 algn="l"/>
                      <a:r>
                        <a:rPr lang="en-US" altLang="zh-CN" sz="1800">
                          <a:sym typeface="+mn-ea"/>
                        </a:rPr>
                        <a:t>.......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554990" y="142875"/>
            <a:ext cx="4040505" cy="14662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Q1: </a:t>
            </a:r>
            <a:r>
              <a:rPr lang="zh-CN" altLang="en-US"/>
              <a:t>湖南</a:t>
            </a:r>
            <a:r>
              <a:rPr lang="zh-CN" altLang="en-US"/>
              <a:t>最近天气</a:t>
            </a:r>
            <a:r>
              <a:rPr lang="zh-CN" altLang="en-US"/>
              <a:t>如何？</a:t>
            </a:r>
            <a:endParaRPr lang="zh-CN" altLang="en-US"/>
          </a:p>
          <a:p>
            <a:pPr algn="l"/>
            <a:r>
              <a:rPr lang="en-US" altLang="zh-CN"/>
              <a:t>Q2:</a:t>
            </a:r>
            <a:r>
              <a:rPr lang="zh-CN" altLang="en-US"/>
              <a:t>推荐一个适合自驾游的旅游</a:t>
            </a:r>
            <a:r>
              <a:rPr lang="zh-CN" altLang="en-US"/>
              <a:t>项目？</a:t>
            </a:r>
            <a:endParaRPr lang="zh-CN" altLang="en-US"/>
          </a:p>
          <a:p>
            <a:pPr algn="l"/>
            <a:r>
              <a:rPr lang="en-US" altLang="zh-CN"/>
              <a:t>Q3:</a:t>
            </a:r>
            <a:r>
              <a:rPr lang="zh-CN" altLang="en-US"/>
              <a:t>制定一个三天三晚出玩计划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6" name="右箭头 5"/>
          <p:cNvSpPr/>
          <p:nvPr/>
        </p:nvSpPr>
        <p:spPr>
          <a:xfrm>
            <a:off x="4851400" y="528955"/>
            <a:ext cx="803910" cy="4984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22620" y="142875"/>
            <a:ext cx="5993765" cy="38982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ym typeface="+mn-ea"/>
              </a:rPr>
              <a:t>Q1: </a:t>
            </a:r>
            <a:r>
              <a:rPr lang="zh-CN" altLang="en-US">
                <a:sym typeface="+mn-ea"/>
              </a:rPr>
              <a:t>湖南最近天气如何？</a:t>
            </a:r>
            <a:endParaRPr lang="zh-CN" altLang="en-US"/>
          </a:p>
          <a:p>
            <a:pPr algn="l"/>
            <a:r>
              <a:rPr lang="en-US" altLang="zh-CN"/>
              <a:t>A1: </a:t>
            </a:r>
            <a:r>
              <a:rPr lang="zh-CN" altLang="en-US"/>
              <a:t>长沙天气</a:t>
            </a:r>
            <a:r>
              <a:rPr lang="en-US" altLang="zh-CN"/>
              <a:t>..................................................</a:t>
            </a:r>
            <a:endParaRPr lang="en-US" altLang="zh-CN"/>
          </a:p>
          <a:p>
            <a:pPr algn="l"/>
            <a:r>
              <a:rPr lang="zh-CN" altLang="en-US"/>
              <a:t>岳阳天气</a:t>
            </a:r>
            <a:r>
              <a:rPr lang="en-US" altLang="zh-CN"/>
              <a:t>............................................</a:t>
            </a:r>
            <a:endParaRPr lang="en-US" altLang="zh-CN"/>
          </a:p>
          <a:p>
            <a:pPr algn="l"/>
            <a:r>
              <a:rPr lang="en-US" altLang="zh-CN"/>
              <a:t>..............................................</a:t>
            </a:r>
            <a:endParaRPr lang="en-US" altLang="zh-CN"/>
          </a:p>
          <a:p>
            <a:pPr algn="l"/>
            <a:r>
              <a:rPr lang="en-US" altLang="zh-CN"/>
              <a:t>Q2:</a:t>
            </a:r>
            <a:r>
              <a:rPr lang="zh-CN" altLang="en-US">
                <a:sym typeface="+mn-ea"/>
              </a:rPr>
              <a:t>推荐一个适合自驾游的旅游项目？</a:t>
            </a:r>
            <a:endParaRPr lang="en-US" altLang="zh-CN"/>
          </a:p>
          <a:p>
            <a:pPr algn="l"/>
            <a:r>
              <a:rPr lang="en-US" altLang="zh-CN"/>
              <a:t>A2:</a:t>
            </a:r>
            <a:r>
              <a:rPr lang="zh-CN" altLang="en-US"/>
              <a:t>自驾游项目推荐</a:t>
            </a:r>
            <a:r>
              <a:rPr lang="en-US" altLang="zh-CN"/>
              <a:t>1________________________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自驾游项目推荐</a:t>
            </a:r>
            <a:r>
              <a:rPr lang="en-US" altLang="zh-CN">
                <a:sym typeface="+mn-ea"/>
              </a:rPr>
              <a:t>2________________________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自驾游项目推荐</a:t>
            </a:r>
            <a:r>
              <a:rPr lang="en-US" altLang="zh-CN">
                <a:sym typeface="+mn-ea"/>
              </a:rPr>
              <a:t>3________________________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.......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Q3:</a:t>
            </a:r>
            <a:r>
              <a:rPr lang="zh-CN" altLang="en-US">
                <a:sym typeface="+mn-ea"/>
              </a:rPr>
              <a:t>制定一个三天三晚出玩计划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/>
              <a:t>A3:</a:t>
            </a:r>
            <a:endParaRPr lang="en-US" altLang="zh-CN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43230" y="2099945"/>
            <a:ext cx="3891915" cy="17830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Q2:</a:t>
            </a:r>
            <a:r>
              <a:rPr lang="zh-CN" altLang="en-US">
                <a:sym typeface="+mn-ea"/>
              </a:rPr>
              <a:t>推荐一个适合自驾游的旅游项目？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/>
              <a:t>A2:</a:t>
            </a:r>
            <a:r>
              <a:rPr lang="zh-CN" altLang="en-US"/>
              <a:t>长沙，</a:t>
            </a:r>
            <a:endParaRPr lang="en-US" altLang="zh-CN"/>
          </a:p>
          <a:p>
            <a:pPr algn="l"/>
            <a:r>
              <a:rPr lang="en-US" altLang="zh-CN"/>
              <a:t>Q3:</a:t>
            </a:r>
            <a:r>
              <a:rPr lang="zh-CN" altLang="en-US">
                <a:sym typeface="+mn-ea"/>
              </a:rPr>
              <a:t>制定一个三天三晚出玩计划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389755" y="1050290"/>
            <a:ext cx="1259205" cy="9975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2" name="表格 11"/>
          <p:cNvGraphicFramePr/>
          <p:nvPr/>
        </p:nvGraphicFramePr>
        <p:xfrm>
          <a:off x="255270" y="4083050"/>
          <a:ext cx="104013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590"/>
                <a:gridCol w="2081530"/>
                <a:gridCol w="65201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用户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用户提问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回答</a:t>
                      </a:r>
                      <a:endParaRPr lang="zh-C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u001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answer1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长沙天气</a:t>
                      </a:r>
                      <a:r>
                        <a:rPr lang="en-US" altLang="zh-CN" sz="1800">
                          <a:sym typeface="+mn-ea"/>
                        </a:rPr>
                        <a:t>..................................................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岳阳天气</a:t>
                      </a:r>
                      <a:r>
                        <a:rPr lang="en-US" altLang="zh-CN" sz="1800">
                          <a:sym typeface="+mn-ea"/>
                        </a:rPr>
                        <a:t>............................................</a:t>
                      </a:r>
                      <a:endParaRPr lang="en-US" altLang="zh-CN" sz="1800"/>
                    </a:p>
                    <a:p>
                      <a:pPr algn="l"/>
                      <a:r>
                        <a:rPr lang="en-US" altLang="zh-CN" sz="1800">
                          <a:sym typeface="+mn-ea"/>
                        </a:rPr>
                        <a:t>..............................................</a:t>
                      </a:r>
                      <a:endParaRPr lang="zh-CN" altLang="en-US"/>
                    </a:p>
                  </a:txBody>
                  <a:tcPr/>
                </a:tc>
              </a:tr>
              <a:tr h="11887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u001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answer2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1________________________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2________________________</a:t>
                      </a:r>
                      <a:endParaRPr lang="en-US" altLang="zh-CN" sz="1800"/>
                    </a:p>
                    <a:p>
                      <a:pPr algn="l"/>
                      <a:r>
                        <a:rPr lang="zh-CN" altLang="en-US" sz="1800">
                          <a:sym typeface="+mn-ea"/>
                        </a:rPr>
                        <a:t>自驾游项目推荐</a:t>
                      </a:r>
                      <a:r>
                        <a:rPr lang="en-US" altLang="zh-CN" sz="1800">
                          <a:sym typeface="+mn-ea"/>
                        </a:rPr>
                        <a:t>3________________________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 algn="l"/>
                      <a:r>
                        <a:rPr lang="en-US" altLang="zh-CN" sz="1800">
                          <a:sym typeface="+mn-ea"/>
                        </a:rPr>
                        <a:t>.......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595495" y="1907540"/>
            <a:ext cx="1027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k=1?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圆角矩形 2"/>
          <p:cNvSpPr/>
          <p:nvPr/>
        </p:nvSpPr>
        <p:spPr>
          <a:xfrm>
            <a:off x="979170" y="1415415"/>
            <a:ext cx="1190625" cy="774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text2sql</a:t>
            </a:r>
            <a:endParaRPr lang="en-US" altLang="zh-CN"/>
          </a:p>
        </p:txBody>
      </p:sp>
      <p:sp>
        <p:nvSpPr>
          <p:cNvPr id="5" name="右箭头 4"/>
          <p:cNvSpPr/>
          <p:nvPr/>
        </p:nvSpPr>
        <p:spPr>
          <a:xfrm>
            <a:off x="2330450" y="1631315"/>
            <a:ext cx="647700" cy="3422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138805" y="1415415"/>
            <a:ext cx="1495425" cy="774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text2echarts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979170" y="3540760"/>
            <a:ext cx="1190625" cy="774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text2sql</a:t>
            </a:r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4218305" y="2543175"/>
            <a:ext cx="1792605" cy="774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text2echarts</a:t>
            </a:r>
            <a:endParaRPr lang="en-US" altLang="zh-CN"/>
          </a:p>
        </p:txBody>
      </p:sp>
      <p:sp>
        <p:nvSpPr>
          <p:cNvPr id="15" name="左大括号 14"/>
          <p:cNvSpPr/>
          <p:nvPr/>
        </p:nvSpPr>
        <p:spPr>
          <a:xfrm>
            <a:off x="2365375" y="2992755"/>
            <a:ext cx="1994535" cy="17043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4359910" y="4228465"/>
            <a:ext cx="1651635" cy="774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分析总结</a:t>
            </a:r>
            <a:endParaRPr lang="zh-CN" altLang="en-US"/>
          </a:p>
        </p:txBody>
      </p:sp>
      <p:sp>
        <p:nvSpPr>
          <p:cNvPr id="17" name="右大括号 16"/>
          <p:cNvSpPr/>
          <p:nvPr/>
        </p:nvSpPr>
        <p:spPr>
          <a:xfrm>
            <a:off x="6302375" y="2836545"/>
            <a:ext cx="937260" cy="18230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321550" y="2836545"/>
            <a:ext cx="3259455" cy="226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723505" y="3089910"/>
            <a:ext cx="1078230" cy="8845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——————————————————————————————————</a:t>
            </a:r>
            <a:endParaRPr lang="en-US" altLang="zh-CN"/>
          </a:p>
        </p:txBody>
      </p:sp>
      <p:sp>
        <p:nvSpPr>
          <p:cNvPr id="20" name="圆角矩形 19"/>
          <p:cNvSpPr/>
          <p:nvPr/>
        </p:nvSpPr>
        <p:spPr>
          <a:xfrm>
            <a:off x="9182100" y="3089910"/>
            <a:ext cx="1063625" cy="8851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图表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035925" y="4413885"/>
            <a:ext cx="1704340" cy="491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编排</a:t>
            </a:r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8303895" y="4116705"/>
            <a:ext cx="163830" cy="260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9293225" y="4109085"/>
            <a:ext cx="297815" cy="208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8824595" y="4935220"/>
            <a:ext cx="7620" cy="4686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8035925" y="5433695"/>
            <a:ext cx="1704340" cy="491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智能报告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012315" y="693420"/>
            <a:ext cx="1670685" cy="635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召回</a:t>
            </a:r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>
            <a:off x="3848100" y="1025525"/>
            <a:ext cx="1153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236210" y="751840"/>
            <a:ext cx="3321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查询相关信息（</a:t>
            </a:r>
            <a:r>
              <a:rPr lang="zh-CN" altLang="en-US">
                <a:sym typeface="+mn-ea"/>
              </a:rPr>
              <a:t>解决有没有？）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12315" y="1908810"/>
            <a:ext cx="1670685" cy="635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粗排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012315" y="3200400"/>
            <a:ext cx="1670685" cy="635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精排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012315" y="4539615"/>
            <a:ext cx="1670685" cy="635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rerank</a:t>
            </a:r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779520" y="2226310"/>
            <a:ext cx="1153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236210" y="2042160"/>
            <a:ext cx="4717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查询相关信息初次过滤（</a:t>
            </a:r>
            <a:r>
              <a:rPr lang="zh-CN" altLang="en-US">
                <a:sym typeface="+mn-ea"/>
              </a:rPr>
              <a:t>解决有快不快？）</a:t>
            </a:r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3740150" y="3514725"/>
            <a:ext cx="1153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148580" y="3330575"/>
            <a:ext cx="4717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查询相关信息二次过滤（</a:t>
            </a:r>
            <a:r>
              <a:rPr lang="zh-CN" altLang="en-US">
                <a:sym typeface="+mn-ea"/>
              </a:rPr>
              <a:t>解决有准不准？）</a:t>
            </a:r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3740150" y="4850765"/>
            <a:ext cx="1153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148580" y="4666615"/>
            <a:ext cx="4717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按用户要求输出（排序）</a:t>
            </a:r>
            <a:endParaRPr lang="zh-CN" altLang="en-US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2874010" y="1425575"/>
            <a:ext cx="9525" cy="332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2848610" y="2705100"/>
            <a:ext cx="9525" cy="332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2848610" y="4067175"/>
            <a:ext cx="9525" cy="332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TABLE_ENDDRAG_ORIGIN_RECT" val="335*57"/>
  <p:tag name="TABLE_ENDDRAG_RECT" val="144*240*336*57"/>
</p:tagLst>
</file>

<file path=ppt/tags/tag69.xml><?xml version="1.0" encoding="utf-8"?>
<p:tagLst xmlns:p="http://schemas.openxmlformats.org/presentationml/2006/main">
  <p:tag name="TABLE_ENDDRAG_ORIGIN_RECT" val="335*57"/>
  <p:tag name="TABLE_ENDDRAG_RECT" val="144*240*336*57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4899</Words>
  <Application>WPS 演示</Application>
  <PresentationFormat>宽屏</PresentationFormat>
  <Paragraphs>462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san</cp:lastModifiedBy>
  <cp:revision>179</cp:revision>
  <dcterms:created xsi:type="dcterms:W3CDTF">2019-06-19T02:08:00Z</dcterms:created>
  <dcterms:modified xsi:type="dcterms:W3CDTF">2025-12-23T07:09:50Z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1D32BA7D054046878CCED2BA342A684D_11</vt:lpwstr>
  </property>
</Properties>
</file>